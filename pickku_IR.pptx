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9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09" d="100"/>
          <a:sy n="209" d="100"/>
        </p:scale>
        <p:origin x="336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959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0A1A30"/>
          </a:solidFill>
          <a:ln w="12700">
            <a:solidFill>
              <a:srgbClr val="0A1A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0E2240"/>
          </a:solidFill>
          <a:ln w="12700">
            <a:solidFill>
              <a:srgbClr val="0E2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38328" y="194948"/>
            <a:ext cx="45719" cy="4253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5720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</a:t>
            </a:r>
            <a:endParaRPr lang="en-US" sz="7600" dirty="0"/>
          </a:p>
        </p:txBody>
      </p:sp>
      <p:sp>
        <p:nvSpPr>
          <p:cNvPr id="6" name="Text 4"/>
          <p:cNvSpPr/>
          <p:nvPr/>
        </p:nvSpPr>
        <p:spPr>
          <a:xfrm>
            <a:off x="521208" y="15819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픽쿠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21208" y="2148840"/>
            <a:ext cx="4389120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2267712"/>
            <a:ext cx="5029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기반 리워드 캠페인 플랫폼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" y="27066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미션 · 포인트 보상 · 블록체인 지원 글로벌 마케팅 플랫폼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1208" y="3218688"/>
            <a:ext cx="1481328" cy="347472"/>
          </a:xfrm>
          <a:prstGeom prst="roundRect">
            <a:avLst>
              <a:gd name="adj" fmla="val 39474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32186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9가지 미션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21408" y="3218688"/>
            <a:ext cx="1481328" cy="347472"/>
          </a:xfrm>
          <a:prstGeom prst="roundRect">
            <a:avLst>
              <a:gd name="adj" fmla="val 3947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21408" y="32186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언어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21608" y="3218688"/>
            <a:ext cx="1481328" cy="347472"/>
          </a:xfrm>
          <a:prstGeom prst="roundRect">
            <a:avLst>
              <a:gd name="adj" fmla="val 3947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21608" y="32186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지원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57800" y="384048"/>
            <a:ext cx="3657600" cy="4206240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739128" y="1984248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39128" y="198424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49240" y="27432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대표 이미지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목업 스크린샷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489204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504" y="128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38328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38328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3504" y="128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658368"/>
            <a:ext cx="8595360" cy="8229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658368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658368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78992" y="71323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67712" y="69494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pickku는 기업이 SNS·링크·퀴즈 등 9가지 미션 캠페인을 통해 고객과 연결되고, 사용자는 미션을 완료하여 포인트·암호화폐 보상을 받는 B2B2C 리워드 플랫폼입니다.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481328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481328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1481328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78992" y="153619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67712" y="151790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디지털 마케팅 시장 $667B(2026E), 퍼포먼스 마케팅·인플루언서 마케팅·커뮤니티 리워드 교차 영역에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포지셔닝,글로벌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시장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공략.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304288"/>
            <a:ext cx="8595360" cy="8229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304288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304288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78992" y="235915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267712" y="234086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보상 인프라 성숙, SNS 플랫폼 API 개방(Discord·Telegram·YouTube), 기업의 퍼스트파티 데이터 수요 폭증으로 미션 기반 마케팅 타이밍 최적.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3127248"/>
            <a:ext cx="85953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27248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3127248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78992" y="318211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67712" y="316382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9가지 미션 유형 완성, 한국어·영어·포르투갈어 3개국 언어 지원, 자동화 추첨 시스템·블록체인 지갑 연동 완료, 초기 B2B 파트너 협의 중.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50208"/>
            <a:ext cx="8595360" cy="8229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950208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950208"/>
            <a:ext cx="530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078992" y="4005072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267712" y="3986784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시드 라운드 ₩5억 ~ ₩10억 목표. 용도: 세일즈팀 구성(40%) · 글로벌 마케팅(30%) · 기술 고도화(30%). 목표 ARR: 18개월 내 ₩20억+.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8892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8892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 — 하나의 플랫폼으로 모든 문제 해결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024128"/>
            <a:ext cx="347472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1024128"/>
            <a:ext cx="34747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1115568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380744" y="113385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5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</a:t>
            </a:r>
            <a:r>
              <a:rPr lang="en-US" sz="125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미션 유형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80744" y="151790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링크방문·퀴즈·설문·코드·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체크인·파일·TG·Discord·YouTube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74920" y="1019556"/>
            <a:ext cx="347472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74920" y="1019556"/>
            <a:ext cx="34747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1110996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861304" y="112928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실시간 검증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861304" y="1513332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Bot·Telegram Bot·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자동 인증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4360" y="2926080"/>
            <a:ext cx="347472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2926080"/>
            <a:ext cx="34747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017520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380744" y="30358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추첨 시스템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380744" y="3419856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균등/가중치 추첨 알고리즘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종료 후 1분 내 자동 실행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74920" y="2921508"/>
            <a:ext cx="3474720" cy="1481328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74920" y="2921508"/>
            <a:ext cx="347472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39512" y="3012948"/>
            <a:ext cx="548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💎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861304" y="303123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보상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861304" y="3415284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+ 암호화폐 복합 보상</a:t>
            </a:r>
            <a:endParaRPr lang="en-US" sz="10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지갑 주소 연동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직관적인 사용자 경험 — 3단계로 완성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704088"/>
            <a:ext cx="2755392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704088"/>
            <a:ext cx="275539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78992" y="768096"/>
            <a:ext cx="184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참여자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1133856"/>
            <a:ext cx="184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참여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1810512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54533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회원가입 (이메일·Google)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" y="216712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450592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18541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설정 (자동 지역 감지)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280720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3090672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82549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탐색 및 선택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44728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730752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46557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다양한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미션 수행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408736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4370832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0565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포인트·암호화폐 보상 수령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94304" y="704088"/>
            <a:ext cx="2755392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194304" y="704088"/>
            <a:ext cx="275539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31464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🛠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998976" y="768096"/>
            <a:ext cx="184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운영자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998976" y="1133856"/>
            <a:ext cx="184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생성·관리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95472" y="1810512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60064" y="154533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생성 (로고·기간 설정)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58896" y="216712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95472" y="2450592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60064" y="218541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구성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358896" y="280720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395472" y="3090672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0064" y="282549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제출 모니터링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58896" y="344728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5472" y="3730752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60064" y="346557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추첨 실행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358896" y="408736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95472" y="4370832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60064" y="410565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데이터 분석 다운로드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114288" y="704088"/>
            <a:ext cx="2755392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14288" y="704088"/>
            <a:ext cx="275539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51448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👑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6918960" y="768096"/>
            <a:ext cx="184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관리자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918960" y="1133856"/>
            <a:ext cx="184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플랫폼 운영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15456" y="181051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0048" y="154533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사용자 관리·차단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78880" y="216712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15456" y="245059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80048" y="218541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변경 (USER↔MANAGER)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278880" y="280720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15456" y="309067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80048" y="282549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통계 대시보드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278880" y="344728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315456" y="373075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80048" y="346557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인구통계 분석 (성별·연령·국가)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6278880" y="408736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315456" y="437083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80048" y="4105656"/>
            <a:ext cx="2252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포인트·보상 현황 모니터링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3중 수익 구조 — B2B + B2C + 블록체인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704088"/>
            <a:ext cx="2755392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704088"/>
            <a:ext cx="2755392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🏢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078992" y="749808"/>
            <a:ext cx="184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SaaS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78992" y="1115568"/>
            <a:ext cx="184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기업 구독 &amp; 캠페인 수수료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958892" y="813816"/>
            <a:ext cx="90720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86712" y="813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 수익원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" y="188823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1545336"/>
            <a:ext cx="2252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월정액 구독 (캠페인 수·미션 수 기반)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38912" y="2322576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" y="2683764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340864"/>
            <a:ext cx="2252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참여자 수 초과 과금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" y="3118104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" y="3479292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36392"/>
            <a:ext cx="2252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프리미엄 분석·CSV 추출 API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8912" y="3913632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5488" y="4274820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931920"/>
            <a:ext cx="2252472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화이트라벨 솔루션 제공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94304" y="704088"/>
            <a:ext cx="2755392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94304" y="704088"/>
            <a:ext cx="2755392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1464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998976" y="749808"/>
            <a:ext cx="184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플랫폼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998976" y="1115568"/>
            <a:ext cx="184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포인트 수수료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79086" y="813816"/>
            <a:ext cx="90678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6696" y="813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 수익원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95472" y="2020824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0064" y="1545336"/>
            <a:ext cx="22524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포인트 → 현금/상품권 교환 수수료 (10%)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358896" y="2587752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95472" y="3081528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60064" y="2606040"/>
            <a:ext cx="22524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유료 VIP 배지·우선 참여권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58896" y="3648456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395472" y="4142232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560064" y="3666744"/>
            <a:ext cx="22524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 리더보드 노출 광고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14288" y="704088"/>
            <a:ext cx="2755392" cy="402336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14288" y="704088"/>
            <a:ext cx="2755392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1448" y="7498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💎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6918960" y="749808"/>
            <a:ext cx="184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18960" y="1115568"/>
            <a:ext cx="1840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암호화폐 보상 트랜잭션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98860" y="813816"/>
            <a:ext cx="907200" cy="27432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26680" y="8138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동력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15456" y="2020824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80048" y="1545336"/>
            <a:ext cx="22524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암호화폐 보상 지급 트랜잭션 수수료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278880" y="2587752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15456" y="308152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80048" y="2606040"/>
            <a:ext cx="22524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멀티토큰 보상 거래 중개 (예정)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278880" y="3648456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15456" y="4142232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80048" y="3666744"/>
            <a:ext cx="2252472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기반 배지·업적 시스템 (로드맵)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경쟁력 — 자동화·검증·글로벌 아키텍처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658368"/>
            <a:ext cx="4039819" cy="8229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658368"/>
            <a:ext cx="64008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70408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536192" y="822960"/>
            <a:ext cx="22860" cy="4937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658368"/>
            <a:ext cx="2558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TypeScript · Pinia · vue-i18n · Vite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481328"/>
            <a:ext cx="4039819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481328"/>
            <a:ext cx="64008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152704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36192" y="1645920"/>
            <a:ext cx="22860" cy="4937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1481328"/>
            <a:ext cx="2558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 + TypeScript · Prisma ORM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304288"/>
            <a:ext cx="4039819" cy="8229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2304288"/>
            <a:ext cx="64008" cy="822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35000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Auth/API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36192" y="2468880"/>
            <a:ext cx="22860" cy="4937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2304288"/>
            <a:ext cx="2558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· Google OAuth2 · Discord.js · Telegram Bot · YouTube API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127248"/>
            <a:ext cx="4039819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3127248"/>
            <a:ext cx="64008" cy="822960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1729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536192" y="3291840"/>
            <a:ext cx="22860" cy="4937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45920" y="3127248"/>
            <a:ext cx="2558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(FE) · Render (BE) · Supabase/PostgreSQL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950208"/>
            <a:ext cx="4039819" cy="8229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950208"/>
            <a:ext cx="64008" cy="82296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9592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536192" y="4114800"/>
            <a:ext cx="22860" cy="4937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645920" y="3950208"/>
            <a:ext cx="255849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· Zod 검증 · GeoIP · CORS · RBAC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497019" y="713232"/>
            <a:ext cx="4372661" cy="93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497019" y="713232"/>
            <a:ext cx="4372661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34179" y="731520"/>
            <a:ext cx="54864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274259" y="768096"/>
            <a:ext cx="3458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자동화 추첨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74259" y="1133856"/>
            <a:ext cx="34582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1분 주기 워커 → 캠페인 종료 감지 → 자동 추첨 실행 → 포인트 즉시 지급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497019" y="1741932"/>
            <a:ext cx="4372661" cy="93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497019" y="1741932"/>
            <a:ext cx="4372661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634179" y="1760220"/>
            <a:ext cx="54864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274259" y="1796796"/>
            <a:ext cx="3458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실시간 검증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74259" y="2162556"/>
            <a:ext cx="34582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 Bot 멤버십 확인, Telegram Bot 채널 가입, YouTube API 시청 시간까지 서버사이드 자동 검증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497019" y="2770632"/>
            <a:ext cx="4372661" cy="93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97019" y="2770632"/>
            <a:ext cx="4372661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34179" y="2788920"/>
            <a:ext cx="54864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🌍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5274259" y="2825496"/>
            <a:ext cx="3458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3개 언어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74259" y="3191256"/>
            <a:ext cx="34582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한국어·영어·포르투갈어 완전 현지화, GeoIP 자동 국가 감지, 브라질 헤알(BRL) 보상 지원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497019" y="3799332"/>
            <a:ext cx="4372661" cy="93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4497019" y="3799332"/>
            <a:ext cx="4372661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34179" y="3817620"/>
            <a:ext cx="548640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💎</a:t>
            </a:r>
            <a:endParaRPr lang="en-US" sz="2200" dirty="0"/>
          </a:p>
        </p:txBody>
      </p:sp>
      <p:sp>
        <p:nvSpPr>
          <p:cNvPr id="55" name="Text 53"/>
          <p:cNvSpPr/>
          <p:nvPr/>
        </p:nvSpPr>
        <p:spPr>
          <a:xfrm>
            <a:off x="5274259" y="3854196"/>
            <a:ext cx="345826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준비 완료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74259" y="4219956"/>
            <a:ext cx="3458261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다중 토큰 보상 구조(rewardsConfig), 지갑 주소 연동, 암호화폐 보상 지급 인프라 완성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분석 — pickku만의 독보적 포지션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704088"/>
            <a:ext cx="2286000" cy="457200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704088"/>
            <a:ext cx="22860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기능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560320" y="704088"/>
            <a:ext cx="1078992" cy="457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704088"/>
            <a:ext cx="10789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39312" y="704088"/>
            <a:ext cx="1078992" cy="457200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39312" y="704088"/>
            <a:ext cx="10789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Gleam.io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18304" y="704088"/>
            <a:ext cx="1078992" cy="457200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704088"/>
            <a:ext cx="10789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797296" y="704088"/>
            <a:ext cx="1078992" cy="457200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97296" y="704088"/>
            <a:ext cx="10789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Zealy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76288" y="704088"/>
            <a:ext cx="1078992" cy="457200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704088"/>
            <a:ext cx="1078992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Galxe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1161288"/>
            <a:ext cx="2286000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16128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9가지 미션 유형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0" y="1161288"/>
            <a:ext cx="1078992" cy="44577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60320" y="116128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639312" y="116128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9312" y="116128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일부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18304" y="116128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116128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797296" y="116128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97296" y="116128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일부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76288" y="116128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76288" y="116128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일부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74320" y="1607058"/>
            <a:ext cx="2286000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160705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실시간 자동검증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560320" y="1607058"/>
            <a:ext cx="1078992" cy="4457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60320" y="160705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3639312" y="160705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160705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718304" y="160705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160705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5797296" y="160705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97296" y="160705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76288" y="160705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160705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274320" y="2052828"/>
            <a:ext cx="2286000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205282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보상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560320" y="2052828"/>
            <a:ext cx="1078992" cy="44577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60320" y="205282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639312" y="205282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39312" y="205282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718304" y="205282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205282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5797296" y="205282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97296" y="205282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876288" y="205282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76288" y="205282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0" name="Shape 58"/>
          <p:cNvSpPr/>
          <p:nvPr/>
        </p:nvSpPr>
        <p:spPr>
          <a:xfrm>
            <a:off x="274320" y="2498598"/>
            <a:ext cx="2286000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74320" y="249859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한국어·포르투갈어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560320" y="2498598"/>
            <a:ext cx="1078992" cy="4457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0" y="249859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3639312" y="249859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39312" y="249859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4718304" y="249859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18304" y="249859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797296" y="249859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97296" y="249859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876288" y="249859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76288" y="249859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274320" y="2944368"/>
            <a:ext cx="2286000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4320" y="294436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추첨 알고리즘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2560320" y="2944368"/>
            <a:ext cx="1078992" cy="44577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560320" y="294436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6" name="Shape 74"/>
          <p:cNvSpPr/>
          <p:nvPr/>
        </p:nvSpPr>
        <p:spPr>
          <a:xfrm>
            <a:off x="3639312" y="294436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639312" y="294436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78" name="Shape 76"/>
          <p:cNvSpPr/>
          <p:nvPr/>
        </p:nvSpPr>
        <p:spPr>
          <a:xfrm>
            <a:off x="4718304" y="294436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18304" y="294436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5797296" y="294436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797296" y="294436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2" name="Shape 80"/>
          <p:cNvSpPr/>
          <p:nvPr/>
        </p:nvSpPr>
        <p:spPr>
          <a:xfrm>
            <a:off x="6876288" y="294436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876288" y="294436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84" name="Shape 82"/>
          <p:cNvSpPr/>
          <p:nvPr/>
        </p:nvSpPr>
        <p:spPr>
          <a:xfrm>
            <a:off x="274320" y="3390138"/>
            <a:ext cx="2286000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4320" y="339013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추첨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2560320" y="3390138"/>
            <a:ext cx="1078992" cy="4457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560320" y="339013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88" name="Shape 86"/>
          <p:cNvSpPr/>
          <p:nvPr/>
        </p:nvSpPr>
        <p:spPr>
          <a:xfrm>
            <a:off x="3639312" y="339013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3639312" y="339013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4718304" y="339013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718304" y="339013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5797296" y="339013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97296" y="339013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6876288" y="339013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876288" y="339013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274320" y="3835908"/>
            <a:ext cx="2286000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274320" y="383590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캠페인 관리자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2560320" y="3835908"/>
            <a:ext cx="1078992" cy="445770"/>
          </a:xfrm>
          <a:prstGeom prst="rect">
            <a:avLst/>
          </a:prstGeom>
          <a:solidFill>
            <a:srgbClr val="EFF6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560320" y="383590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00" name="Shape 98"/>
          <p:cNvSpPr/>
          <p:nvPr/>
        </p:nvSpPr>
        <p:spPr>
          <a:xfrm>
            <a:off x="3639312" y="383590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639312" y="383590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02" name="Shape 100"/>
          <p:cNvSpPr/>
          <p:nvPr/>
        </p:nvSpPr>
        <p:spPr>
          <a:xfrm>
            <a:off x="4718304" y="383590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718304" y="383590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5797296" y="383590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5797296" y="383590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제한</a:t>
            </a:r>
            <a:endParaRPr lang="en-US" sz="1400" dirty="0"/>
          </a:p>
        </p:txBody>
      </p:sp>
      <p:sp>
        <p:nvSpPr>
          <p:cNvPr id="106" name="Shape 104"/>
          <p:cNvSpPr/>
          <p:nvPr/>
        </p:nvSpPr>
        <p:spPr>
          <a:xfrm>
            <a:off x="6876288" y="3835908"/>
            <a:ext cx="1078992" cy="44577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876288" y="383590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제한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274320" y="4281678"/>
            <a:ext cx="2286000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274320" y="4281678"/>
            <a:ext cx="2286000" cy="44577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오픈소스 배포 가능</a:t>
            </a:r>
            <a:endParaRPr lang="en-US" sz="1100" dirty="0"/>
          </a:p>
        </p:txBody>
      </p:sp>
      <p:sp>
        <p:nvSpPr>
          <p:cNvPr id="110" name="Shape 108"/>
          <p:cNvSpPr/>
          <p:nvPr/>
        </p:nvSpPr>
        <p:spPr>
          <a:xfrm>
            <a:off x="2560320" y="4281678"/>
            <a:ext cx="1078992" cy="44577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2560320" y="428167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400" dirty="0"/>
          </a:p>
        </p:txBody>
      </p:sp>
      <p:sp>
        <p:nvSpPr>
          <p:cNvPr id="112" name="Shape 110"/>
          <p:cNvSpPr/>
          <p:nvPr/>
        </p:nvSpPr>
        <p:spPr>
          <a:xfrm>
            <a:off x="3639312" y="428167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3639312" y="428167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4718304" y="428167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718304" y="428167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116" name="Shape 114"/>
          <p:cNvSpPr/>
          <p:nvPr/>
        </p:nvSpPr>
        <p:spPr>
          <a:xfrm>
            <a:off x="5797296" y="428167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5797296" y="428167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  <p:sp>
        <p:nvSpPr>
          <p:cNvPr id="118" name="Shape 116"/>
          <p:cNvSpPr/>
          <p:nvPr/>
        </p:nvSpPr>
        <p:spPr>
          <a:xfrm>
            <a:off x="6876288" y="4281678"/>
            <a:ext cx="1078992" cy="44577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76288" y="4281678"/>
            <a:ext cx="107899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진행 상황 &amp; 주요 지표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704088"/>
            <a:ext cx="2025396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704088"/>
            <a:ext cx="2025396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832104"/>
            <a:ext cx="1751076" cy="535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9종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65760" y="1284183"/>
            <a:ext cx="1842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미션 유형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65760" y="1585935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완성된 미션 타입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464308" y="704088"/>
            <a:ext cx="2025396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64308" y="704088"/>
            <a:ext cx="2025396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1468" y="832104"/>
            <a:ext cx="1751076" cy="535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2555748" y="1284183"/>
            <a:ext cx="1842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지원 언어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555748" y="1585935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 · EN · PT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54296" y="704088"/>
            <a:ext cx="2025396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54296" y="704088"/>
            <a:ext cx="2025396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91456" y="832104"/>
            <a:ext cx="1751076" cy="535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4745736" y="1284183"/>
            <a:ext cx="1842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자동화율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745736" y="1585935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추첨·검증·지급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44284" y="704088"/>
            <a:ext cx="2025396" cy="1115568"/>
          </a:xfrm>
          <a:prstGeom prst="rect">
            <a:avLst/>
          </a:prstGeom>
          <a:solidFill>
            <a:srgbClr val="FFFFFF"/>
          </a:solidFill>
          <a:ln w="25400">
            <a:solidFill>
              <a:srgbClr val="1A2F4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44284" y="704088"/>
            <a:ext cx="2025396" cy="54864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81444" y="832104"/>
            <a:ext cx="1751076" cy="5354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6935724" y="1284183"/>
            <a:ext cx="1842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 완료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935724" y="1585935"/>
            <a:ext cx="18425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풀스택 배포 준비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1975104"/>
            <a:ext cx="2755392" cy="2724912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1304544" y="2834640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04544" y="28346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65760" y="3593592"/>
            <a:ext cx="2572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월별 가입자 추이 차트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(실제 데이터 삽입)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194304" y="1975104"/>
            <a:ext cx="2755392" cy="2724912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224528" y="2834640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24528" y="28346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3285744" y="3593592"/>
            <a:ext cx="2572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캠페인 수·참여자 수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현황 차트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114288" y="1975104"/>
            <a:ext cx="2755392" cy="2724912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144512" y="2834640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44512" y="283464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205728" y="3593592"/>
            <a:ext cx="2572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파트너·고객사 로고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또는 언론 노출 스크린샷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 구성 — 실행력이 검증된 창업팀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91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73152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투자자에게 전달할 팀 정보를 아래 공간에 삽입해주세요.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1069848"/>
            <a:ext cx="27432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1161288"/>
            <a:ext cx="1188720" cy="1188720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298448" y="1252728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98448" y="1252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43000" y="20116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사진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487168"/>
            <a:ext cx="2194560" cy="274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57860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[이름]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38912" y="2916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[직책 · 전문 분야]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8912" y="326440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[경력 및 주요 성과를 2~3줄로 입력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전 Google 엔지니어, 스타트업 2회 창업]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0" y="1069848"/>
            <a:ext cx="27432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77640" y="1161288"/>
            <a:ext cx="1188720" cy="1188720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4224528" y="1252728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24528" y="1252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069080" y="20116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사진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2487168"/>
            <a:ext cx="2194560" cy="274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4992" y="257860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[이름]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364992" y="2916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[직책 · 전문 분야]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64992" y="326440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[경력 및 주요 성과를 2~3줄로 입력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전 Google 엔지니어, 스타트업 2회 창업]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26480" y="1069848"/>
            <a:ext cx="2743200" cy="363931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903720" y="1161288"/>
            <a:ext cx="1188720" cy="1188720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7150608" y="1252728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50608" y="1252728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995160" y="2011680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 사진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400800" y="2487168"/>
            <a:ext cx="2194560" cy="27432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91072" y="2578608"/>
            <a:ext cx="24140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[이름]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91072" y="2916936"/>
            <a:ext cx="2414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[직책 · 전문 분야]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91072" y="3264408"/>
            <a:ext cx="2414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[경력 및 주요 성과를 2~3줄로 입력</a:t>
            </a:r>
            <a:endParaRPr lang="en-US" sz="10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전 Google 엔지니어, 스타트업 2회 창업]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로드맵 — 18개월 실행 계획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91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042416"/>
            <a:ext cx="8595360" cy="640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42288" y="896112"/>
            <a:ext cx="329184" cy="32918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39968" y="896112"/>
            <a:ext cx="329184" cy="3291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137648" y="896112"/>
            <a:ext cx="329184" cy="3291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1252728"/>
            <a:ext cx="27553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1252728"/>
            <a:ext cx="2755392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298448"/>
            <a:ext cx="2481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Phase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1636776"/>
            <a:ext cx="248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~ 6개월  |  완료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5488" y="2220163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02536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9가지 미션 유형 완성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" y="2529230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" y="2765146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547518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자동 검증 (Discord·TG·YouTube)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8912" y="3074213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3310128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92501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지갑 연동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912" y="3619195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" y="3855110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637483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 언어 현지화 완료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" y="416417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4400093"/>
            <a:ext cx="73152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182466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배포 완료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194304" y="1252728"/>
            <a:ext cx="27553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194304" y="1252728"/>
            <a:ext cx="275539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1464" y="1298448"/>
            <a:ext cx="2481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Phase 2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31464" y="1636776"/>
            <a:ext cx="248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~ 12개월  |  진행 예정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395472" y="2220163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60064" y="2002536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첫 B2B 파트너 10사 온보딩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58896" y="2529230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5472" y="276514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60064" y="2547518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한국·브라질 동시 마케팅 런칭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58896" y="3074213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395472" y="3310128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60064" y="3092501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미션 완성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358896" y="3619195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395472" y="3855110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0064" y="3637483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리더보드·커뮤니티 기능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358896" y="416417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95472" y="4400093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60064" y="4182466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ARR ₩5억 달성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14288" y="1252728"/>
            <a:ext cx="2755392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114288" y="1252728"/>
            <a:ext cx="275539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1448" y="1298448"/>
            <a:ext cx="2481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Phase 3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6251448" y="1636776"/>
            <a:ext cx="2481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~ 18개월  |  계획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315456" y="2220163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80048" y="2002536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10개국 확장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78880" y="2529230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15456" y="2765146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80048" y="2547518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NFT 배지·업적 시스템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6278880" y="3074213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315456" y="3310128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80048" y="3092501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마켓플레이스 오픈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278880" y="3619195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315456" y="3855110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80048" y="3637483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프리파레이션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278880" y="4164178"/>
            <a:ext cx="2435352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315456" y="4400093"/>
            <a:ext cx="731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80048" y="4182466"/>
            <a:ext cx="2252472" cy="5449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 ARR ₩20억 달성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계획 — 투자금 활용 및 수익 목표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91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731520"/>
            <a:ext cx="41257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투자금 활용 계획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097280"/>
            <a:ext cx="1650309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097280"/>
            <a:ext cx="1650309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4629" y="1097280"/>
            <a:ext cx="1237732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4629" y="1097280"/>
            <a:ext cx="12377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62361" y="1097280"/>
            <a:ext cx="825155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62361" y="1097280"/>
            <a:ext cx="8251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987516" y="1097280"/>
            <a:ext cx="412577" cy="5943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828800"/>
            <a:ext cx="164592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1828800"/>
            <a:ext cx="2017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세일즈·BD팀 구성 40%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428646" y="1828800"/>
            <a:ext cx="16459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48102" y="1828800"/>
            <a:ext cx="2017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마케팅 30%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74320" y="2176272"/>
            <a:ext cx="16459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" y="2176272"/>
            <a:ext cx="2017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기술 고도화·인프라 20%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428646" y="2176272"/>
            <a:ext cx="164592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48102" y="2176272"/>
            <a:ext cx="201716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법무·운영 10%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43907" y="731520"/>
            <a:ext cx="41257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수익 목표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43907" y="1097280"/>
            <a:ext cx="4125773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08499" y="11887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직후 6M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08499" y="1508760"/>
            <a:ext cx="37965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₩2억 ARR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908499" y="1901952"/>
            <a:ext cx="3796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파트너 10사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43907" y="2286000"/>
            <a:ext cx="4125773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908499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08499" y="2697480"/>
            <a:ext cx="37965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₩8억 ARR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908499" y="3090672"/>
            <a:ext cx="3796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5만 명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743907" y="3474720"/>
            <a:ext cx="4125773" cy="1078992"/>
          </a:xfrm>
          <a:prstGeom prst="rect">
            <a:avLst/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43907" y="3474720"/>
            <a:ext cx="4125773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08499" y="3566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18개월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08499" y="3886200"/>
            <a:ext cx="3796589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₩20억+ ARR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4908499" y="4279392"/>
            <a:ext cx="37965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3개국 본격 운영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2596896"/>
            <a:ext cx="4125773" cy="2103120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989734" y="3145536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989734" y="314553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💹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65760" y="3904488"/>
            <a:ext cx="394289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 모델 스프레드시트</a:t>
            </a:r>
            <a:endParaRPr lang="en-US" sz="950" dirty="0"/>
          </a:p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(월별 예상 수익·비용 차트)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41080" y="0"/>
            <a:ext cx="50292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36576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74320" y="26517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유치 조건 — Seed Round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" y="91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8BDF8"/>
                </a:solidFill>
              </a:rPr>
              <a:t>···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731520"/>
            <a:ext cx="3781958" cy="4005072"/>
          </a:xfrm>
          <a:prstGeom prst="rect">
            <a:avLst/>
          </a:prstGeom>
          <a:solidFill>
            <a:srgbClr val="1A2F4B"/>
          </a:solidFill>
          <a:ln w="12700">
            <a:solidFill>
              <a:srgbClr val="1A2F4B"/>
            </a:solidFill>
            <a:prstDash val="solid"/>
          </a:ln>
          <a:effectLst>
            <a:outerShdw blurRad="152400" dist="381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914400"/>
            <a:ext cx="33247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2920" y="1463040"/>
            <a:ext cx="33247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금액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1737360"/>
            <a:ext cx="332475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₩5억 ~ ₩10억</a:t>
            </a:r>
            <a:endParaRPr lang="en-US" sz="3200" dirty="0"/>
          </a:p>
        </p:txBody>
      </p:sp>
      <p:sp>
        <p:nvSpPr>
          <p:cNvPr id="16" name="Shape 14"/>
          <p:cNvSpPr/>
          <p:nvPr/>
        </p:nvSpPr>
        <p:spPr>
          <a:xfrm>
            <a:off x="502920" y="2487168"/>
            <a:ext cx="3324758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334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라운드 구조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057400" y="2633472"/>
            <a:ext cx="1770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/ 전환사채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108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밸류에이션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57400" y="3108960"/>
            <a:ext cx="1770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협의 (Pre-money)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58444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 기간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57400" y="3584448"/>
            <a:ext cx="1770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상반기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059936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클로징 목표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57400" y="4059936"/>
            <a:ext cx="17702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60일 이내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14139" y="749808"/>
            <a:ext cx="4555541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pickku인가?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14139" y="1188720"/>
            <a:ext cx="4555541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14139" y="1188720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51299" y="1188720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999939" y="1188720"/>
            <a:ext cx="375086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Web3·SNS API 개방 시대 — 미션 기반 마케팅 폭발적 성장 타이밍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14139" y="1901952"/>
            <a:ext cx="4555541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14139" y="1901952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51299" y="1901952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🌍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4999939" y="1901952"/>
            <a:ext cx="375086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한국·브라질 듀얼 마켓 — 아시아·남미 동시 공략 희소 포지셔닝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14139" y="2615184"/>
            <a:ext cx="4555541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314139" y="2615184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51299" y="2615184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4999939" y="2615184"/>
            <a:ext cx="375086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완전 자동화된 기술 스택 — 추첨·검증·보상까지 개발 완료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314139" y="3328416"/>
            <a:ext cx="4555541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314139" y="3328416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51299" y="3328416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4999939" y="3328416"/>
            <a:ext cx="375086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9가지 미션 유형 — 경쟁사 대비 3배 이상의 마케팅 유연성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14139" y="4041648"/>
            <a:ext cx="4555541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314139" y="4041648"/>
            <a:ext cx="64008" cy="6217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51299" y="4041648"/>
            <a:ext cx="4754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💎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4999939" y="4041648"/>
            <a:ext cx="375086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블록체인 준비 완료 — Web3 전환 시 즉시 대응 가능한 인프라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502920" y="162400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만들어갑시다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02920" y="2456104"/>
            <a:ext cx="5120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pickku와 함께</a:t>
            </a:r>
            <a:endParaRPr lang="en-US" sz="16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A8D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글로벌 리워드 마케팅 시장을 선점하세요.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230368" y="347472"/>
            <a:ext cx="3657600" cy="4224528"/>
          </a:xfrm>
          <a:prstGeom prst="rect">
            <a:avLst/>
          </a:prstGeom>
          <a:solidFill>
            <a:srgbClr val="F0F7FF"/>
          </a:solidFill>
          <a:ln w="19050">
            <a:solidFill>
              <a:srgbClr val="38BDF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6711696" y="1956816"/>
            <a:ext cx="694944" cy="694944"/>
          </a:xfrm>
          <a:prstGeom prst="ellipse">
            <a:avLst/>
          </a:prstGeom>
          <a:solidFill>
            <a:srgbClr val="DBEAF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11696" y="1956816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21808" y="271576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로고 또는 플랫폼 대표 이미지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48920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본 자료는 투자 판단의 참고 자료이며, 투자 권유가 아닙니다.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1168" y="91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03504" y="12801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pickku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41080" y="10972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D4F5"/>
                </a:solidFill>
              </a:rPr>
              <a:t>···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Investor Relations  2026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778240" y="48920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23" name="Shape 2">
            <a:extLst>
              <a:ext uri="{FF2B5EF4-FFF2-40B4-BE49-F238E27FC236}">
                <a16:creationId xmlns:a16="http://schemas.microsoft.com/office/drawing/2014/main" id="{45584735-552B-4F69-89FF-6E9E26AA4868}"/>
              </a:ext>
            </a:extLst>
          </p:cNvPr>
          <p:cNvSpPr/>
          <p:nvPr/>
        </p:nvSpPr>
        <p:spPr>
          <a:xfrm>
            <a:off x="338328" y="194948"/>
            <a:ext cx="45719" cy="42536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1337</Words>
  <Application>Microsoft Office PowerPoint</Application>
  <PresentationFormat>화면 슬라이드 쇼(16:9)</PresentationFormat>
  <Paragraphs>352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7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Code7</cp:lastModifiedBy>
  <cp:revision>14</cp:revision>
  <dcterms:created xsi:type="dcterms:W3CDTF">2026-05-15T06:59:03Z</dcterms:created>
  <dcterms:modified xsi:type="dcterms:W3CDTF">2026-05-20T04:00:51Z</dcterms:modified>
</cp:coreProperties>
</file>