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33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2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6300"/>
            <a:ext cx="44805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29768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9768" y="2578608"/>
            <a:ext cx="3200400" cy="36576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기반 리워드 캠페인 플랫폼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참여가 보상이 되는 순간 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" y="4736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"/>
            <a:ext cx="4297680" cy="4732020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46520" y="2064258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642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79577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대표 화면 이미지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플랫폼 개요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pickQ는 기업과 브랜드가 다양한 미션 캠페인을 통해 고객과 연결되고, 사용자는 미션을 완료하여 포인트 보상을 받는 B2C 리워드 플랫폼입니다.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2755392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61288"/>
            <a:ext cx="275539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71016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기업 / 브랜드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40536" y="1938528"/>
            <a:ext cx="822960" cy="82296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0536" y="1938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2916936"/>
            <a:ext cx="24810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기반 고객 참여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효율 향상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94304" y="1161288"/>
            <a:ext cx="2755392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4304" y="1161288"/>
            <a:ext cx="275539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464" y="1271016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일반 사용자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1938528"/>
            <a:ext cx="822960" cy="82296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938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31464" y="2916936"/>
            <a:ext cx="24810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미션 완료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적립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추첨 당첨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14288" y="1161288"/>
            <a:ext cx="2755392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4288" y="1161288"/>
            <a:ext cx="275539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1448" y="1271016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플랫폼 관리자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0504" y="1938528"/>
            <a:ext cx="822960" cy="82296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0504" y="1938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51448" y="2916936"/>
            <a:ext cx="24810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분석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자동화된 운영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6가지 미션 유형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55392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82296" cy="19705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795528"/>
            <a:ext cx="640080" cy="64008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95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795528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방문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133856"/>
            <a:ext cx="167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LINK_VISIT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481328"/>
            <a:ext cx="2435352" cy="27432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72768"/>
            <a:ext cx="243535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링크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4304" y="658368"/>
            <a:ext cx="2755392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94304" y="658368"/>
            <a:ext cx="82296" cy="19705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7184" y="795528"/>
            <a:ext cx="640080" cy="64008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7184" y="795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54424" y="795528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입력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54424" y="1133856"/>
            <a:ext cx="167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77184" y="1481328"/>
            <a:ext cx="2435352" cy="27432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7184" y="1572768"/>
            <a:ext cx="243535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인증 코드 입력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14288" y="658368"/>
            <a:ext cx="2755392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4288" y="658368"/>
            <a:ext cx="82296" cy="19705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7168" y="795528"/>
            <a:ext cx="640080" cy="64008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7168" y="795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74408" y="795528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조사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74408" y="1133856"/>
            <a:ext cx="167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97168" y="1481328"/>
            <a:ext cx="2435352" cy="27432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7168" y="1572768"/>
            <a:ext cx="243535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객관식 / 다중 선택 설문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766060"/>
            <a:ext cx="2755392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66060"/>
            <a:ext cx="82296" cy="19705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03220"/>
            <a:ext cx="640080" cy="64008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03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34440" y="2903220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3241548"/>
            <a:ext cx="167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589020"/>
            <a:ext cx="2435352" cy="27432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80460"/>
            <a:ext cx="243535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선택형 퀴즈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94304" y="2766060"/>
            <a:ext cx="2755392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94304" y="2766060"/>
            <a:ext cx="82296" cy="19705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77184" y="2903220"/>
            <a:ext cx="640080" cy="64008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7184" y="2903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154424" y="2903220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체크인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154424" y="3241548"/>
            <a:ext cx="167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77184" y="3589020"/>
            <a:ext cx="2435352" cy="27432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7184" y="3680460"/>
            <a:ext cx="243535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 확인 참여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14288" y="2766060"/>
            <a:ext cx="2755392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4288" y="2766060"/>
            <a:ext cx="82296" cy="19705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97168" y="2903220"/>
            <a:ext cx="640080" cy="640080"/>
          </a:xfrm>
          <a:prstGeom prst="ellipse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7168" y="2903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074408" y="2903220"/>
            <a:ext cx="167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74408" y="3241548"/>
            <a:ext cx="167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FILE_UPLOAD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7168" y="3589020"/>
            <a:ext cx="2435352" cy="27432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7168" y="3680460"/>
            <a:ext cx="243535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URL 제출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공정한 추첨 시스템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206240" cy="33009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412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균등 추첨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74904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73936"/>
            <a:ext cx="37490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미션 완료자에게 동등한 당첨 확률을 부여하는 추첨 방식입니다.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여부만으로 참여 자격이 결정되므로 공정하고 단순한 운영이 가능합니다.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3749040" cy="1097280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057400" y="2679192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균등 추첨 다이어그램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658368"/>
            <a:ext cx="4206240" cy="33009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270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8412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가중치 추첨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1664208"/>
            <a:ext cx="3749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73936"/>
            <a:ext cx="37490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완료한 미션 수에 비례하여 높은 당첨 확률을 부여하는 가중치 기반 추첨 방식입니다.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많이 참여할수록 당첨 확률이 높아져 적극적인 참여를 유도합니다.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2633472"/>
            <a:ext cx="3749040" cy="1097280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46520" y="2679192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추첨 다이어그램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4206240" cy="548640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자동 추첨 — 캠페인 종료 시 자동 실행 (수동 개입 불필요)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069080"/>
            <a:ext cx="4206240" cy="548640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즉시 추첨 — 운영자가 원할 때 언제든 즉시 실행 가능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사용자 흐름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768096"/>
            <a:ext cx="1645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680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참여자 (USER)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1295400" cy="658368"/>
          </a:xfrm>
          <a:prstGeom prst="rect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61288"/>
            <a:ext cx="1295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69720" y="1161288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4312" y="1161288"/>
            <a:ext cx="1295400" cy="658368"/>
          </a:xfrm>
          <a:prstGeom prst="rect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4312" y="1161288"/>
            <a:ext cx="1295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설정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29712" y="1161288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4304" y="1161288"/>
            <a:ext cx="1295400" cy="658368"/>
          </a:xfrm>
          <a:prstGeom prst="rect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4304" y="1161288"/>
            <a:ext cx="1295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탐색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9704" y="1161288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4296" y="1161288"/>
            <a:ext cx="1295400" cy="658368"/>
          </a:xfrm>
          <a:prstGeom prst="rect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161288"/>
            <a:ext cx="1295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수행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9696" y="1161288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14288" y="1161288"/>
            <a:ext cx="1295400" cy="658368"/>
          </a:xfrm>
          <a:prstGeom prst="rect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4288" y="1161288"/>
            <a:ext cx="1295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획득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9688" y="1161288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74280" y="1161288"/>
            <a:ext cx="12954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4280" y="1161288"/>
            <a:ext cx="1295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수령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1883664"/>
            <a:ext cx="129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또는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로그인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34312" y="1883664"/>
            <a:ext cx="129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이름·생년월일·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성별·지역 입력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94304" y="1883664"/>
            <a:ext cx="129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목록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및 선택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54296" y="1883664"/>
            <a:ext cx="129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방문·퀴즈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등 수행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14288" y="1883664"/>
            <a:ext cx="129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완료 시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자동 적립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74280" y="1883664"/>
            <a:ext cx="129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추첨 당첨 시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수령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633472"/>
            <a:ext cx="1645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운영자 (MANAGER)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026664"/>
            <a:ext cx="1086830" cy="658368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생성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61150" y="3026664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525742" y="3026664"/>
            <a:ext cx="1086830" cy="658368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25742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구성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12571" y="3026664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77163" y="3026664"/>
            <a:ext cx="1086830" cy="658368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7163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요청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63993" y="3026664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8585" y="3026664"/>
            <a:ext cx="1086830" cy="658368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8585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15415" y="3026664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80007" y="3026664"/>
            <a:ext cx="1086830" cy="658368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0007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검토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66837" y="3026664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31429" y="3026664"/>
            <a:ext cx="1086830" cy="658368"/>
          </a:xfrm>
          <a:prstGeom prst="rect">
            <a:avLst/>
          </a:prstGeom>
          <a:solidFill>
            <a:srgbClr val="EE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1429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추첨 실행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18258" y="3026664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5B6"/>
                </a:solidFill>
              </a:rPr>
              <a:t>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82850" y="3026664"/>
            <a:ext cx="108683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82850" y="3026664"/>
            <a:ext cx="108683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역할 및 권한 체계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55392" cy="4078224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D9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2755392" cy="96012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680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78992" y="749808"/>
            <a:ext cx="184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161288"/>
            <a:ext cx="184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사용자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901952"/>
            <a:ext cx="73152" cy="7315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목록 탐색 및 검색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26771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496312"/>
            <a:ext cx="73152" cy="7315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3172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상세 조회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86207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090672"/>
            <a:ext cx="73152" cy="7315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수행 및 제출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45643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685032"/>
            <a:ext cx="73152" cy="7315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2044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조회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405079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279392"/>
            <a:ext cx="73152" cy="7315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1480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당첨 내역 확인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94304" y="658368"/>
            <a:ext cx="2755392" cy="4078224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94304" y="658368"/>
            <a:ext cx="2755392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1464" y="7680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🛠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998976" y="749808"/>
            <a:ext cx="184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98976" y="1161288"/>
            <a:ext cx="184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95472" y="190195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0064" y="173736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생성 / 수정 / 삭제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8896" y="226771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5472" y="249631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0064" y="233172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구성 및 관리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8896" y="286207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95472" y="309067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0064" y="292608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내역 승인 / 반려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58896" y="345643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5472" y="368503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0064" y="352044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추첨 실행 및 통계 조회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58896" y="405079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5472" y="427939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0064" y="411480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데이터 내보내기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14288" y="658368"/>
            <a:ext cx="2755392" cy="4078224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14288" y="658368"/>
            <a:ext cx="275539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1448" y="7680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918960" y="749808"/>
            <a:ext cx="184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18960" y="1161288"/>
            <a:ext cx="1840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15456" y="1901952"/>
            <a:ext cx="7315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0048" y="173736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MANAGER 권한 포함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78880" y="226771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15456" y="2496312"/>
            <a:ext cx="7315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0048" y="233172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사용자 목록 조회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78880" y="286207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15456" y="3090672"/>
            <a:ext cx="7315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80048" y="292608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변경 (USER↔MANAGER)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78880" y="345643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15456" y="3685032"/>
            <a:ext cx="7315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0048" y="352044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차단 / 해제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78880" y="4050792"/>
            <a:ext cx="2435352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15456" y="4279392"/>
            <a:ext cx="7315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80048" y="4114800"/>
            <a:ext cx="2252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통계 대시보드 조회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캠페인 관리 기능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3953866" cy="815645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64008" cy="81564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8368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713232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생성 / 수정 / 삭제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082503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손쉬운 캠페인 라이프사이클 관리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74013"/>
            <a:ext cx="3953866" cy="815645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74013"/>
            <a:ext cx="64008" cy="81564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74013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552" y="1528877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리스트 구성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1898148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 선택, 내용 설정, 순서 정렬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9658"/>
            <a:ext cx="3953866" cy="815645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89658"/>
            <a:ext cx="64008" cy="81564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89658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" y="2344522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내역 실시간 확인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713793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/ 반려 상태별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05302"/>
            <a:ext cx="3953866" cy="815645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05302"/>
            <a:ext cx="64008" cy="81564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5302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" y="3160166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데이터 내보내기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529438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데이터 분석 활용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0947"/>
            <a:ext cx="3953866" cy="815645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20947"/>
            <a:ext cx="64008" cy="81564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20947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7552" y="3975811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통계 및 참여자 현황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345082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참여 현황 모니터링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11066" y="658368"/>
            <a:ext cx="4458614" cy="4078224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20333" y="2194560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0333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02506" y="2926080"/>
            <a:ext cx="4275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관리 화면 스크린샷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관리자 대시보드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3953866" cy="815645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64008" cy="81564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8368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713232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통계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082503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수 · 캠페인 수 · 제출 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74013"/>
            <a:ext cx="3953866" cy="815645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74013"/>
            <a:ext cx="64008" cy="81564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74013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552" y="1528877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 통계 분석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1898148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국가별 / 연령대별 / 성별 / 지역별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9658"/>
            <a:ext cx="3953866" cy="815645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89658"/>
            <a:ext cx="64008" cy="81564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89658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" y="2344522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성과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713793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캠페인, 포인트 배분 현황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05302"/>
            <a:ext cx="3953866" cy="815645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05302"/>
            <a:ext cx="64008" cy="81564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5302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" y="3160166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증가 추세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529438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추이 (최근 12개월)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0947"/>
            <a:ext cx="3953866" cy="815645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20947"/>
            <a:ext cx="64008" cy="81564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20947"/>
            <a:ext cx="50292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7552" y="3975811"/>
            <a:ext cx="3130906" cy="424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유형 통계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345082"/>
            <a:ext cx="3130906" cy="342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유형별 참여 현황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11066" y="658368"/>
            <a:ext cx="4458614" cy="4078224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20333" y="2194560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0333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02506" y="2926080"/>
            <a:ext cx="4275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화면 스크린샷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활용 시나리오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215384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4215384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01 | 마케팅 캠페인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381304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신제품 출시 시 '페이지 방문 + 퀴즈 + 코드 입력' 미션 구성.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완료자 자동 추첨 → 보상 지급 + 고객 데이터 자동 수집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54296" y="658368"/>
            <a:ext cx="4215384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658368"/>
            <a:ext cx="4215384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731520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02 | 브랜드 인지도 향상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5464" y="1344168"/>
            <a:ext cx="381304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· 유튜브 · 홈페이지 링크 방문 미션으로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자연스러운 멀티채널 브랜드 체험 유도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66060"/>
            <a:ext cx="4215384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66060"/>
            <a:ext cx="4215384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9212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03 | 고객 설문 &amp; 데이터 수집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451860"/>
            <a:ext cx="381304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보상(포인트)으로 설문 응답률 향상.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데이터(성별·연령·지역)를 CSV로 내보내 인사이트 분석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54296" y="2766060"/>
            <a:ext cx="4215384" cy="19705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2766060"/>
            <a:ext cx="4215384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839212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04 | 오프라인-온라인 연계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55464" y="3451860"/>
            <a:ext cx="381304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이벤트 체크인 · QR코드 인증 · 코드 입력으로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온·오프라인 통합 캠페인 운영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| 기술 스택 및 인프라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5539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275539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68096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프론트엔드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458468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16736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83337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91640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API 기반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208276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066544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 |  상태 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41448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583180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441448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 |  라우팅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958084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16352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vue-i18n  |  다국어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332988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91256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 |  빌드 도구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94304" y="658368"/>
            <a:ext cx="275539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94304" y="658368"/>
            <a:ext cx="275539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8896" y="768096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백엔드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94304" y="1316736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8896" y="1458468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4344" y="1316736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94304" y="1691640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8896" y="183337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4344" y="1691640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94304" y="2066544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58896" y="2208276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4344" y="2066544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94304" y="2441448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58896" y="2583180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4344" y="2441448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인증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94304" y="2816352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58896" y="2958084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4344" y="2816352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194304" y="3191256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58896" y="3332988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4344" y="3191256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 |  입력 검증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14288" y="658368"/>
            <a:ext cx="275539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14288" y="658368"/>
            <a:ext cx="275539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8880" y="768096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인프라 / 배포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114288" y="1316736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8880" y="1458468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4328" y="1316736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|  프론트엔드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14288" y="1691640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78880" y="1833372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4328" y="1691640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CI/CD · 글로벌 CDN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14288" y="2066544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78880" y="2208276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34328" y="2066544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|  백엔드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14288" y="2441448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8880" y="2583180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34328" y="2441448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스케일링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14288" y="2816352"/>
            <a:ext cx="2755392" cy="374904"/>
          </a:xfrm>
          <a:prstGeom prst="rect">
            <a:avLst/>
          </a:prstGeom>
          <a:solidFill>
            <a:srgbClr val="EEF5FB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8880" y="2958084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34328" y="2816352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|  PostgreSQL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114288" y="3191256"/>
            <a:ext cx="2755392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78880" y="3332988"/>
            <a:ext cx="73152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34328" y="3191256"/>
            <a:ext cx="2316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관리형 DB · 실시간 기능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3730752"/>
            <a:ext cx="8595360" cy="960120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4251960" y="3707892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51960" y="37078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365760" y="44394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 다이어그램  ( Frontend → Backend API → Database 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글로벌 지원 &amp; 핵심 차별화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3781958" cy="4078224"/>
          </a:xfrm>
          <a:prstGeom prst="rect">
            <a:avLst/>
          </a:prstGeom>
          <a:solidFill>
            <a:srgbClr val="EEF5FB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3781958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35076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글로벌 지원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225296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🇰🇷🇺🇸🇧🇷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56970"/>
            <a:ext cx="2821838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언어 지원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08099"/>
            <a:ext cx="2821838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/ 영어 / 포르투갈어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075688"/>
            <a:ext cx="3461918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03120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234794"/>
            <a:ext cx="2821838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GeoIP 지역 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585923"/>
            <a:ext cx="2821838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기반 국가 자동 설정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953512"/>
            <a:ext cx="3461918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80944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112618"/>
            <a:ext cx="2821838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로케일 설정 저장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63747"/>
            <a:ext cx="2821838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사용자별 언어 환경 유지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3831336"/>
            <a:ext cx="3461918" cy="22860"/>
          </a:xfrm>
          <a:prstGeom prst="rect">
            <a:avLst/>
          </a:prstGeom>
          <a:solidFill>
            <a:srgbClr val="E5E9EF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858768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990442"/>
            <a:ext cx="2821838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데이터 수집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341571"/>
            <a:ext cx="2821838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국가별·지역별 참여 분석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39158" y="658368"/>
            <a:ext cx="2246681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39158" y="658368"/>
            <a:ext cx="2246681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6318" y="749808"/>
            <a:ext cx="5029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952390" y="768096"/>
            <a:ext cx="1405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2390" y="1161288"/>
            <a:ext cx="1405433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시 자동 추첨, 수동 개입 최소화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2999" y="658368"/>
            <a:ext cx="2246681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2999" y="658368"/>
            <a:ext cx="2246681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0159" y="749808"/>
            <a:ext cx="5029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36231" y="768096"/>
            <a:ext cx="1405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미션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36231" y="1161288"/>
            <a:ext cx="1405433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유형의 다채로운 미션 구성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39158" y="2063496"/>
            <a:ext cx="2246681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39158" y="2063496"/>
            <a:ext cx="2246681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6318" y="2154936"/>
            <a:ext cx="5029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952390" y="2173224"/>
            <a:ext cx="1405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공정한 추첨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52390" y="2566416"/>
            <a:ext cx="1405433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기반 균등/가중치 추첨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2999" y="2063496"/>
            <a:ext cx="2246681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22999" y="2063496"/>
            <a:ext cx="2246681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0159" y="2154936"/>
            <a:ext cx="5029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336231" y="2173224"/>
            <a:ext cx="1405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중심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36231" y="2566416"/>
            <a:ext cx="1405433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통계 + CSV 내보내기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39158" y="3468624"/>
            <a:ext cx="2246681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39158" y="3468624"/>
            <a:ext cx="2246681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6318" y="3560064"/>
            <a:ext cx="5029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4952390" y="3578352"/>
            <a:ext cx="1405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지원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52390" y="3971544"/>
            <a:ext cx="1405433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국어, GeoIP 자동 감지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22999" y="3468624"/>
            <a:ext cx="2246681" cy="1267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22999" y="3468624"/>
            <a:ext cx="2246681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0159" y="3560064"/>
            <a:ext cx="5029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7336231" y="3578352"/>
            <a:ext cx="1405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기반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36231" y="3971544"/>
            <a:ext cx="1405433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SaaS 인프라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07158"/>
            <a:ext cx="9144000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pickQ와 함께 시작하세요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참여를 높이고 싶다면,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리워드 캠페인 플랫폼을 지금 바로 경험해보세요.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0" y="2663190"/>
            <a:ext cx="4023360" cy="1645920"/>
          </a:xfrm>
          <a:prstGeom prst="rect">
            <a:avLst/>
          </a:prstGeom>
          <a:solidFill>
            <a:srgbClr val="EEF5FB"/>
          </a:solidFill>
          <a:ln w="19050">
            <a:solidFill>
              <a:srgbClr val="5BA3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251960" y="2983230"/>
            <a:ext cx="640080" cy="64008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298323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371475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로고 / 대표 이미지 삽입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640580"/>
            <a:ext cx="8595360" cy="27432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45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 |  미션 기반 리워드 캠페인 플랫폼  | 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1097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" y="155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41080" y="128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pickQ | 미션 기반 리워드 캠페인 플랫폼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778240" y="48646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983</Words>
  <Application>Microsoft Office PowerPoint</Application>
  <PresentationFormat>화면 슬라이드 쇼(16:9)</PresentationFormat>
  <Paragraphs>318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Code7</cp:lastModifiedBy>
  <cp:revision>3</cp:revision>
  <dcterms:created xsi:type="dcterms:W3CDTF">2026-04-27T03:18:10Z</dcterms:created>
  <dcterms:modified xsi:type="dcterms:W3CDTF">2026-04-27T08:48:09Z</dcterms:modified>
</cp:coreProperties>
</file>